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2"/>
  </p:notesMasterIdLst>
  <p:handoutMasterIdLst>
    <p:handoutMasterId r:id="rId23"/>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9" r:id="rId17"/>
    <p:sldId id="341" r:id="rId18"/>
    <p:sldId id="342" r:id="rId19"/>
    <p:sldId id="343"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2" autoAdjust="0"/>
    <p:restoredTop sz="95033" autoAdjust="0"/>
  </p:normalViewPr>
  <p:slideViewPr>
    <p:cSldViewPr snapToGrid="0">
      <p:cViewPr varScale="1">
        <p:scale>
          <a:sx n="95" d="100"/>
          <a:sy n="95" d="100"/>
        </p:scale>
        <p:origin x="206"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5"/>
            <a:ext cx="8813704" cy="949317"/>
          </a:xfrm>
        </p:spPr>
        <p:txBody>
          <a:bodyPr vert="horz" lIns="91440" tIns="45720" rIns="91440" bIns="45720" rtlCol="0" anchor="t">
            <a:normAutofit/>
          </a:bodyPr>
          <a:lstStyle/>
          <a:p>
            <a:pPr algn="ctr"/>
            <a:r>
              <a:rPr lang="en-US" b="0" dirty="0">
                <a:solidFill>
                  <a:schemeClr val="tx1"/>
                </a:solidFill>
              </a:rPr>
              <a:t>        DABETTA RAJESH </a:t>
            </a:r>
          </a:p>
          <a:p>
            <a:pPr algn="ctr"/>
            <a:r>
              <a:rPr lang="en-US" dirty="0">
                <a:solidFill>
                  <a:schemeClr val="tx1"/>
                </a:solidFill>
              </a:rPr>
              <a:t>               College Name </a:t>
            </a:r>
            <a:r>
              <a:rPr lang="en-US" b="0" dirty="0">
                <a:solidFill>
                  <a:schemeClr val="tx1"/>
                </a:solidFill>
              </a:rPr>
              <a:t>: Vignan Institute of Technology and Science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360947" y="2844750"/>
            <a:ext cx="9729537" cy="743448"/>
          </a:xfrm>
        </p:spPr>
        <p:txBody>
          <a:bodyPr>
            <a:normAutofit fontScale="90000"/>
          </a:bodyPr>
          <a:lstStyle/>
          <a:p>
            <a:r>
              <a:rPr lang="en-GB" sz="3200" dirty="0"/>
              <a:t>Project Title – 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747518" y="4600532"/>
            <a:ext cx="5551639" cy="369332"/>
          </a:xfrm>
          <a:prstGeom prst="rect">
            <a:avLst/>
          </a:prstGeom>
          <a:noFill/>
        </p:spPr>
        <p:txBody>
          <a:bodyPr wrap="square" rtlCol="0">
            <a:spAutoFit/>
          </a:bodyPr>
          <a:lstStyle/>
          <a:p>
            <a:r>
              <a:rPr lang="en-US" b="1" dirty="0"/>
              <a:t>    AICTE STU ID : </a:t>
            </a:r>
            <a:r>
              <a:rPr lang="en-US" dirty="0"/>
              <a:t>STU62584ac6a46761649953478</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75958" y="2102230"/>
            <a:ext cx="7319726" cy="3821050"/>
          </a:xfrm>
        </p:spPr>
        <p:txBody>
          <a:bodyPr vert="horz" lIns="91440" tIns="45720" rIns="91440" bIns="45720" rtlCol="0" anchor="t">
            <a:normAutofit fontScale="85000" lnSpcReduction="20000"/>
          </a:bodyPr>
          <a:lstStyle/>
          <a:p>
            <a:pPr marL="0" indent="0" algn="just">
              <a:lnSpc>
                <a:spcPct val="100000"/>
              </a:lnSpc>
              <a:buNone/>
            </a:pPr>
            <a:r>
              <a:rPr lang="en-IN" sz="2800" dirty="0">
                <a:latin typeface="Times New Roman" panose="02020603050405020304" pitchFamily="18" charset="0"/>
                <a:cs typeface="Times New Roman"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2800" dirty="0" err="1">
                <a:latin typeface="Times New Roman" panose="02020603050405020304" pitchFamily="18" charset="0"/>
                <a:cs typeface="Times New Roman" panose="02020603050405020304" pitchFamily="18" charset="0"/>
              </a:rPr>
              <a:t>analyze</a:t>
            </a:r>
            <a:r>
              <a:rPr lang="en-IN" sz="2800" dirty="0">
                <a:latin typeface="Times New Roman" panose="02020603050405020304" pitchFamily="18" charset="0"/>
                <a:cs typeface="Times New Roman" panose="02020603050405020304" pitchFamily="18" charset="0"/>
              </a:rPr>
              <a:t> the given agricultural dataset and investigate seasonal differences in agricultural performance by identifying meaningful patterns, trends, relationships and variations within the available data. </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721360"/>
            <a:ext cx="6995604" cy="832230"/>
          </a:xfrm>
        </p:spPr>
        <p:txBody>
          <a:bodyPr>
            <a:normAutofit/>
          </a:bodyPr>
          <a:lstStyle/>
          <a:p>
            <a:pPr algn="ctr"/>
            <a:r>
              <a:rPr lang="en-IN" sz="4000" dirty="0">
                <a:latin typeface="Times New Roman" panose="02020603050405020304" pitchFamily="18" charset="0"/>
                <a:cs typeface="Times New Roman" panose="02020603050405020304" pitchFamily="18" charset="0"/>
              </a:rPr>
              <a:t>Problem Statement</a:t>
            </a: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941670" y="2143760"/>
            <a:ext cx="8595361" cy="4521200"/>
          </a:xfrm>
        </p:spPr>
        <p:txBody>
          <a:bodyPr>
            <a:noAutofit/>
          </a:bodyPr>
          <a:lstStyle/>
          <a:p>
            <a:pPr algn="just"/>
            <a:r>
              <a:rPr lang="en-IN" sz="2200" b="0" dirty="0">
                <a:latin typeface="Times New Roman" panose="02020603050405020304" pitchFamily="18" charset="0"/>
                <a:cs typeface="Times New Roman" panose="02020603050405020304" pitchFamily="18" charset="0"/>
              </a:rPr>
              <a:t>Seasonal Agriculture Performance Analysis is a Data Analytics project focused on understanding how agricultural performance changes across different farming seasons. The project uses a dataset containing information about crops, geographical locations, environmental conditions, farming resources, production, market prices, costs, revenue, and profit.</a:t>
            </a:r>
            <a:br>
              <a:rPr lang="en-IN" sz="2200" b="0" dirty="0">
                <a:latin typeface="Times New Roman" panose="02020603050405020304" pitchFamily="18" charset="0"/>
                <a:cs typeface="Times New Roman" panose="02020603050405020304" pitchFamily="18" charset="0"/>
              </a:rPr>
            </a:br>
            <a:br>
              <a:rPr lang="en-IN" sz="2200" b="0" dirty="0">
                <a:latin typeface="Times New Roman" panose="02020603050405020304" pitchFamily="18" charset="0"/>
                <a:cs typeface="Times New Roman" panose="02020603050405020304" pitchFamily="18" charset="0"/>
              </a:rPr>
            </a:br>
            <a:r>
              <a:rPr lang="en-IN" sz="2200" b="0" dirty="0">
                <a:latin typeface="Times New Roman" panose="02020603050405020304" pitchFamily="18" charset="0"/>
                <a:cs typeface="Times New Roman" panose="02020603050405020304" pitchFamily="18" charset="0"/>
              </a:rPr>
              <a:t>The main purpose of the project is to </a:t>
            </a:r>
            <a:r>
              <a:rPr lang="en-IN" sz="2200" b="0" dirty="0" err="1">
                <a:latin typeface="Times New Roman" panose="02020603050405020304" pitchFamily="18" charset="0"/>
                <a:cs typeface="Times New Roman" panose="02020603050405020304" pitchFamily="18" charset="0"/>
              </a:rPr>
              <a:t>analyze</a:t>
            </a:r>
            <a:r>
              <a:rPr lang="en-IN" sz="2200" b="0" dirty="0">
                <a:latin typeface="Times New Roman" panose="02020603050405020304" pitchFamily="18" charset="0"/>
                <a:cs typeface="Times New Roman" panose="02020603050405020304" pitchFamily="18" charset="0"/>
              </a:rPr>
              <a:t> agricultural data and identify meaningful seasonal patterns, differences, relationships, and performance variations. The analysis helps understand which seasons provide better crop yields and profitability and how environmental conditions and resource utilization are associated with agricultural outcomes.</a:t>
            </a:r>
            <a:br>
              <a:rPr lang="en-IN" sz="2200" b="0" dirty="0">
                <a:latin typeface="Times New Roman" panose="02020603050405020304" pitchFamily="18" charset="0"/>
                <a:cs typeface="Times New Roman" panose="02020603050405020304" pitchFamily="18" charset="0"/>
              </a:rPr>
            </a:br>
            <a:endParaRPr lang="en-IN" sz="2200" b="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10E68F76-0C26-5BB8-F426-B38A25E23605}"/>
              </a:ext>
            </a:extLst>
          </p:cNvPr>
          <p:cNvSpPr txBox="1"/>
          <p:nvPr/>
        </p:nvSpPr>
        <p:spPr>
          <a:xfrm>
            <a:off x="1747519" y="842798"/>
            <a:ext cx="5059680" cy="707886"/>
          </a:xfrm>
          <a:prstGeom prst="rect">
            <a:avLst/>
          </a:prstGeom>
          <a:noFill/>
        </p:spPr>
        <p:txBody>
          <a:bodyPr wrap="square" rtlCol="0">
            <a:spAutoFit/>
          </a:bodyPr>
          <a:lstStyle/>
          <a:p>
            <a:pPr algn="ctr"/>
            <a:r>
              <a:rPr lang="en-IN" sz="4000" b="1" dirty="0">
                <a:latin typeface="Times New Roman" panose="02020603050405020304" pitchFamily="18" charset="0"/>
                <a:cs typeface="Times New Roman" panose="02020603050405020304" pitchFamily="18" charset="0"/>
              </a:rPr>
              <a:t>   Project Description</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701041"/>
            <a:ext cx="10046070" cy="978218"/>
          </a:xfrm>
        </p:spPr>
        <p:txBody>
          <a:bodyPr>
            <a:normAutofit/>
          </a:bodyPr>
          <a:lstStyle/>
          <a:p>
            <a:pPr algn="ctr"/>
            <a:r>
              <a:rPr lang="en-US" sz="3200" dirty="0">
                <a:latin typeface="Times New Roman" panose="02020603050405020304" pitchFamily="18" charset="0"/>
                <a:cs typeface="Times New Roman" panose="02020603050405020304" pitchFamily="18" charset="0"/>
              </a:rPr>
              <a:t>Who are the End Users?</a:t>
            </a:r>
            <a:endParaRPr lang="en-IN"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5" name="TextBox 4">
            <a:extLst>
              <a:ext uri="{FF2B5EF4-FFF2-40B4-BE49-F238E27FC236}">
                <a16:creationId xmlns:a16="http://schemas.microsoft.com/office/drawing/2014/main" id="{66B31AF8-DD6D-6F72-1C42-ACC54429574A}"/>
              </a:ext>
            </a:extLst>
          </p:cNvPr>
          <p:cNvSpPr txBox="1"/>
          <p:nvPr/>
        </p:nvSpPr>
        <p:spPr>
          <a:xfrm>
            <a:off x="337331" y="1587599"/>
            <a:ext cx="9213069" cy="4832092"/>
          </a:xfrm>
          <a:prstGeom prst="rect">
            <a:avLst/>
          </a:prstGeom>
          <a:noFill/>
        </p:spPr>
        <p:txBody>
          <a:bodyPr wrap="square">
            <a:spAutoFit/>
          </a:bodyPr>
          <a:lstStyle/>
          <a:p>
            <a:pPr algn="just">
              <a:buNone/>
            </a:pPr>
            <a:r>
              <a:rPr lang="en-IN" sz="2200" dirty="0">
                <a:latin typeface="Times New Roman" panose="02020603050405020304" pitchFamily="18" charset="0"/>
                <a:cs typeface="Times New Roman" panose="02020603050405020304" pitchFamily="18" charset="0"/>
              </a:rPr>
              <a:t>For your </a:t>
            </a:r>
            <a:r>
              <a:rPr lang="en-IN" sz="2200" b="1" dirty="0">
                <a:latin typeface="Times New Roman" panose="02020603050405020304" pitchFamily="18" charset="0"/>
                <a:cs typeface="Times New Roman" panose="02020603050405020304" pitchFamily="18" charset="0"/>
              </a:rPr>
              <a:t>Seasonal Agriculture Performance Analysis</a:t>
            </a:r>
            <a:r>
              <a:rPr lang="en-IN" sz="2200" dirty="0">
                <a:latin typeface="Times New Roman" panose="02020603050405020304" pitchFamily="18" charset="0"/>
                <a:cs typeface="Times New Roman" panose="02020603050405020304" pitchFamily="18" charset="0"/>
              </a:rPr>
              <a:t> project, the main end users are:</a:t>
            </a:r>
          </a:p>
          <a:p>
            <a:pPr marL="342900" lvl="0" indent="-342900" algn="just">
              <a:buFont typeface="+mj-lt"/>
              <a:buAutoNum type="arabicPeriod"/>
            </a:pPr>
            <a:r>
              <a:rPr lang="en-IN" sz="2200" b="1" dirty="0">
                <a:latin typeface="Times New Roman" panose="02020603050405020304" pitchFamily="18" charset="0"/>
                <a:cs typeface="Times New Roman" panose="02020603050405020304" pitchFamily="18" charset="0"/>
              </a:rPr>
              <a:t>Farmers</a:t>
            </a:r>
            <a:r>
              <a:rPr lang="en-IN" sz="2200" dirty="0">
                <a:latin typeface="Times New Roman" panose="02020603050405020304" pitchFamily="18" charset="0"/>
                <a:cs typeface="Times New Roman" panose="02020603050405020304" pitchFamily="18" charset="0"/>
              </a:rPr>
              <a:t> – to understand seasonal crop performance, yield, resource usage, and profitability. </a:t>
            </a:r>
          </a:p>
          <a:p>
            <a:pPr marL="342900" lvl="0" indent="-342900" algn="just">
              <a:buFont typeface="+mj-lt"/>
              <a:buAutoNum type="arabicPeriod"/>
            </a:pPr>
            <a:r>
              <a:rPr lang="en-IN" sz="2200" b="1" dirty="0">
                <a:latin typeface="Times New Roman" panose="02020603050405020304" pitchFamily="18" charset="0"/>
                <a:cs typeface="Times New Roman" panose="02020603050405020304" pitchFamily="18" charset="0"/>
              </a:rPr>
              <a:t>Agricultural consultants</a:t>
            </a:r>
            <a:r>
              <a:rPr lang="en-IN" sz="2200" dirty="0">
                <a:latin typeface="Times New Roman" panose="02020603050405020304" pitchFamily="18" charset="0"/>
                <a:cs typeface="Times New Roman" panose="02020603050405020304" pitchFamily="18" charset="0"/>
              </a:rPr>
              <a:t> – to provide data-driven farming recommendations. </a:t>
            </a:r>
          </a:p>
          <a:p>
            <a:pPr marL="342900" lvl="0" indent="-342900" algn="just">
              <a:buFont typeface="+mj-lt"/>
              <a:buAutoNum type="arabicPeriod"/>
            </a:pPr>
            <a:r>
              <a:rPr lang="en-IN" sz="2200" b="1" dirty="0">
                <a:latin typeface="Times New Roman" panose="02020603050405020304" pitchFamily="18" charset="0"/>
                <a:cs typeface="Times New Roman" panose="02020603050405020304" pitchFamily="18" charset="0"/>
              </a:rPr>
              <a:t>Government agricultural departments</a:t>
            </a:r>
            <a:r>
              <a:rPr lang="en-IN" sz="2200" dirty="0">
                <a:latin typeface="Times New Roman" panose="02020603050405020304" pitchFamily="18" charset="0"/>
                <a:cs typeface="Times New Roman" panose="02020603050405020304" pitchFamily="18" charset="0"/>
              </a:rPr>
              <a:t> – for planning policies, subsidies, and seasonal agricultural programs. </a:t>
            </a:r>
          </a:p>
          <a:p>
            <a:pPr marL="342900" lvl="0" indent="-342900" algn="just">
              <a:buFont typeface="+mj-lt"/>
              <a:buAutoNum type="arabicPeriod"/>
            </a:pPr>
            <a:r>
              <a:rPr lang="en-IN" sz="2200" b="1" dirty="0">
                <a:latin typeface="Times New Roman" panose="02020603050405020304" pitchFamily="18" charset="0"/>
                <a:cs typeface="Times New Roman" panose="02020603050405020304" pitchFamily="18" charset="0"/>
              </a:rPr>
              <a:t>Agribusiness companies</a:t>
            </a:r>
            <a:r>
              <a:rPr lang="en-IN" sz="2200" dirty="0">
                <a:latin typeface="Times New Roman" panose="02020603050405020304" pitchFamily="18" charset="0"/>
                <a:cs typeface="Times New Roman" panose="02020603050405020304" pitchFamily="18" charset="0"/>
              </a:rPr>
              <a:t> – to </a:t>
            </a:r>
            <a:r>
              <a:rPr lang="en-IN" sz="2200" dirty="0" err="1">
                <a:latin typeface="Times New Roman" panose="02020603050405020304" pitchFamily="18" charset="0"/>
                <a:cs typeface="Times New Roman" panose="02020603050405020304" pitchFamily="18" charset="0"/>
              </a:rPr>
              <a:t>analyze</a:t>
            </a:r>
            <a:r>
              <a:rPr lang="en-IN" sz="2200" dirty="0">
                <a:latin typeface="Times New Roman" panose="02020603050405020304" pitchFamily="18" charset="0"/>
                <a:cs typeface="Times New Roman" panose="02020603050405020304" pitchFamily="18" charset="0"/>
              </a:rPr>
              <a:t> crop production, market trends, and profitability. </a:t>
            </a:r>
          </a:p>
          <a:p>
            <a:pPr marL="342900" lvl="0" indent="-342900" algn="just">
              <a:buFont typeface="+mj-lt"/>
              <a:buAutoNum type="arabicPeriod"/>
            </a:pPr>
            <a:r>
              <a:rPr lang="en-IN" sz="2200" b="1" dirty="0">
                <a:latin typeface="Times New Roman" panose="02020603050405020304" pitchFamily="18" charset="0"/>
                <a:cs typeface="Times New Roman" panose="02020603050405020304" pitchFamily="18" charset="0"/>
              </a:rPr>
              <a:t>Researchers and Agricultural Analysts</a:t>
            </a:r>
            <a:r>
              <a:rPr lang="en-IN" sz="2200" dirty="0">
                <a:latin typeface="Times New Roman" panose="02020603050405020304" pitchFamily="18" charset="0"/>
                <a:cs typeface="Times New Roman" panose="02020603050405020304" pitchFamily="18" charset="0"/>
              </a:rPr>
              <a:t> – to study seasonal patterns and environmental impacts. </a:t>
            </a:r>
          </a:p>
          <a:p>
            <a:pPr marL="342900" lvl="0" indent="-342900" algn="just">
              <a:buFont typeface="+mj-lt"/>
              <a:buAutoNum type="arabicPeriod"/>
            </a:pPr>
            <a:r>
              <a:rPr lang="en-IN" sz="2200" b="1" dirty="0">
                <a:latin typeface="Times New Roman" panose="02020603050405020304" pitchFamily="18" charset="0"/>
                <a:cs typeface="Times New Roman" panose="02020603050405020304" pitchFamily="18" charset="0"/>
              </a:rPr>
              <a:t>Farm Managers</a:t>
            </a:r>
            <a:r>
              <a:rPr lang="en-IN" sz="2200" dirty="0">
                <a:latin typeface="Times New Roman" panose="02020603050405020304" pitchFamily="18" charset="0"/>
                <a:cs typeface="Times New Roman" panose="02020603050405020304" pitchFamily="18" charset="0"/>
              </a:rPr>
              <a:t> – to improve irrigation, fertilizer usage, and overall farm performance.</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371600"/>
            <a:ext cx="8966742" cy="5304408"/>
          </a:xfrm>
        </p:spPr>
        <p:txBody>
          <a:bodyPr/>
          <a:lstStyle/>
          <a:p>
            <a:pPr algn="just"/>
            <a:r>
              <a:rPr lang="en-IN" sz="2200" dirty="0">
                <a:latin typeface="Times New Roman" panose="02020603050405020304" pitchFamily="18" charset="0"/>
                <a:cs typeface="Times New Roman" panose="02020603050405020304" pitchFamily="18" charset="0"/>
              </a:rPr>
              <a:t>The project was implemented Using </a:t>
            </a:r>
            <a:r>
              <a:rPr lang="en-IN" sz="2200" b="1" dirty="0">
                <a:latin typeface="Times New Roman" panose="02020603050405020304" pitchFamily="18" charset="0"/>
                <a:cs typeface="Times New Roman" panose="02020603050405020304" pitchFamily="18" charset="0"/>
              </a:rPr>
              <a:t>Python in Google </a:t>
            </a:r>
            <a:r>
              <a:rPr lang="en-IN" sz="2200" b="1" dirty="0" err="1">
                <a:latin typeface="Times New Roman" panose="02020603050405020304" pitchFamily="18" charset="0"/>
                <a:cs typeface="Times New Roman" panose="02020603050405020304" pitchFamily="18" charset="0"/>
              </a:rPr>
              <a:t>Colab</a:t>
            </a:r>
            <a:r>
              <a:rPr lang="en-IN" sz="2200" b="1" dirty="0">
                <a:latin typeface="Times New Roman" panose="02020603050405020304" pitchFamily="18" charset="0"/>
                <a:cs typeface="Times New Roman" panose="02020603050405020304" pitchFamily="18" charset="0"/>
              </a:rPr>
              <a:t>.</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The main libraries used were:</a:t>
            </a:r>
          </a:p>
          <a:p>
            <a:pPr lvl="0" algn="just"/>
            <a:r>
              <a:rPr lang="en-IN" sz="2200" b="1" dirty="0">
                <a:latin typeface="Times New Roman" panose="02020603050405020304" pitchFamily="18" charset="0"/>
                <a:cs typeface="Times New Roman" panose="02020603050405020304" pitchFamily="18" charset="0"/>
              </a:rPr>
              <a:t>NumPy</a:t>
            </a:r>
            <a:r>
              <a:rPr lang="en-IN" sz="2200" dirty="0">
                <a:latin typeface="Times New Roman" panose="02020603050405020304" pitchFamily="18" charset="0"/>
                <a:cs typeface="Times New Roman" panose="02020603050405020304" pitchFamily="18" charset="0"/>
              </a:rPr>
              <a:t> – numerical calculations and statistical computations.</a:t>
            </a:r>
          </a:p>
          <a:p>
            <a:pPr lvl="0" algn="just"/>
            <a:r>
              <a:rPr lang="en-IN" sz="2200" b="1" dirty="0">
                <a:latin typeface="Times New Roman" panose="02020603050405020304" pitchFamily="18" charset="0"/>
                <a:cs typeface="Times New Roman" panose="02020603050405020304" pitchFamily="18" charset="0"/>
              </a:rPr>
              <a:t>Pandas</a:t>
            </a:r>
            <a:r>
              <a:rPr lang="en-IN" sz="2200" dirty="0">
                <a:latin typeface="Times New Roman" panose="02020603050405020304" pitchFamily="18" charset="0"/>
                <a:cs typeface="Times New Roman" panose="02020603050405020304" pitchFamily="18" charset="0"/>
              </a:rPr>
              <a:t> – data loading, cleaning, transformation, grouping, and analysis.</a:t>
            </a:r>
          </a:p>
          <a:p>
            <a:pPr lvl="0" algn="just"/>
            <a:r>
              <a:rPr lang="en-IN" sz="2200" b="1" dirty="0">
                <a:latin typeface="Times New Roman" panose="02020603050405020304" pitchFamily="18" charset="0"/>
                <a:cs typeface="Times New Roman" panose="02020603050405020304" pitchFamily="18" charset="0"/>
              </a:rPr>
              <a:t>Matplotlib</a:t>
            </a:r>
            <a:r>
              <a:rPr lang="en-IN" sz="2200" dirty="0">
                <a:latin typeface="Times New Roman" panose="02020603050405020304" pitchFamily="18" charset="0"/>
                <a:cs typeface="Times New Roman" panose="02020603050405020304" pitchFamily="18" charset="0"/>
              </a:rPr>
              <a:t> – creating analytical charts and visualizations.</a:t>
            </a:r>
          </a:p>
          <a:p>
            <a:pPr lvl="0" algn="just"/>
            <a:r>
              <a:rPr lang="en-IN" sz="2200" b="1" dirty="0">
                <a:latin typeface="Times New Roman" panose="02020603050405020304" pitchFamily="18" charset="0"/>
                <a:cs typeface="Times New Roman" panose="02020603050405020304" pitchFamily="18" charset="0"/>
              </a:rPr>
              <a:t>Seaborn</a:t>
            </a:r>
            <a:r>
              <a:rPr lang="en-IN" sz="2200" dirty="0">
                <a:latin typeface="Times New Roman" panose="02020603050405020304" pitchFamily="18" charset="0"/>
                <a:cs typeface="Times New Roman" panose="02020603050405020304" pitchFamily="18" charset="0"/>
              </a:rPr>
              <a:t> – creating statistical and exploratory visualizations.</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6573521" cy="847817"/>
          </a:xfrm>
        </p:spPr>
        <p:txBody>
          <a:bodyPr>
            <a:normAutofit fontScale="90000"/>
          </a:bodyPr>
          <a:lstStyle/>
          <a:p>
            <a:r>
              <a:rPr lang="en-US" sz="4000" dirty="0">
                <a:latin typeface="Times New Roman" panose="02020603050405020304" pitchFamily="18" charset="0"/>
                <a:cs typeface="Times New Roman" panose="02020603050405020304" pitchFamily="18" charset="0"/>
              </a:rPr>
              <a:t>Technologies &amp; Libraries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8539163" cy="830997"/>
          </a:xfrm>
        </p:spPr>
        <p:txBody>
          <a:bodyPr>
            <a:normAutofit fontScale="90000"/>
          </a:bodyPr>
          <a:lstStyle/>
          <a:p>
            <a:r>
              <a:rPr lang="en-IN" b="0" dirty="0"/>
              <a:t> </a:t>
            </a:r>
            <a:r>
              <a:rPr lang="en-IN" sz="4000" dirty="0">
                <a:latin typeface="Times New Roman" panose="02020603050405020304" pitchFamily="18" charset="0"/>
                <a:cs typeface="Times New Roman" panose="02020603050405020304" pitchFamily="18" charset="0"/>
              </a:rPr>
              <a:t>Results: Number of Farms by Seasons</a:t>
            </a: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A7C7357D-0526-24A9-7939-DA498D0267AD}"/>
              </a:ext>
            </a:extLst>
          </p:cNvPr>
          <p:cNvPicPr>
            <a:picLocks noChangeAspect="1"/>
          </p:cNvPicPr>
          <p:nvPr/>
        </p:nvPicPr>
        <p:blipFill>
          <a:blip r:embed="rId3"/>
          <a:stretch>
            <a:fillRect/>
          </a:stretch>
        </p:blipFill>
        <p:spPr>
          <a:xfrm>
            <a:off x="451650" y="1275371"/>
            <a:ext cx="10582110" cy="5397344"/>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8163243" cy="830997"/>
          </a:xfrm>
        </p:spPr>
        <p:txBody>
          <a:bodyPr>
            <a:normAutofit fontScale="90000"/>
          </a:bodyPr>
          <a:lstStyle/>
          <a:p>
            <a:r>
              <a:rPr lang="en-IN" sz="4000" b="0" dirty="0">
                <a:latin typeface="Times New Roman" panose="02020603050405020304" pitchFamily="18" charset="0"/>
                <a:cs typeface="Times New Roman" panose="02020603050405020304" pitchFamily="18" charset="0"/>
              </a:rPr>
              <a:t>            </a:t>
            </a:r>
            <a:r>
              <a:rPr lang="en-IN" sz="4000" dirty="0">
                <a:latin typeface="Times New Roman" panose="02020603050405020304" pitchFamily="18" charset="0"/>
                <a:cs typeface="Times New Roman" panose="02020603050405020304" pitchFamily="18" charset="0"/>
              </a:rPr>
              <a:t>Results :Average Yield by Season</a:t>
            </a:r>
            <a:br>
              <a:rPr lang="en-IN" b="0" dirty="0"/>
            </a:b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2E27BCAA-73AE-1D1D-F1EC-639E5D26D81F}"/>
              </a:ext>
            </a:extLst>
          </p:cNvPr>
          <p:cNvPicPr>
            <a:picLocks noChangeAspect="1"/>
          </p:cNvPicPr>
          <p:nvPr/>
        </p:nvPicPr>
        <p:blipFill>
          <a:blip r:embed="rId3"/>
          <a:stretch>
            <a:fillRect/>
          </a:stretch>
        </p:blipFill>
        <p:spPr>
          <a:xfrm>
            <a:off x="518161" y="1184305"/>
            <a:ext cx="10180320" cy="5480655"/>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8925243" cy="830997"/>
          </a:xfrm>
        </p:spPr>
        <p:txBody>
          <a:bodyPr>
            <a:noAutofit/>
          </a:bodyPr>
          <a:lstStyle/>
          <a:p>
            <a:r>
              <a:rPr lang="en-GB" sz="3600" b="0" dirty="0">
                <a:latin typeface="Times New Roman" panose="02020603050405020304" pitchFamily="18" charset="0"/>
                <a:cs typeface="Times New Roman" panose="02020603050405020304" pitchFamily="18" charset="0"/>
              </a:rPr>
              <a:t>                    </a:t>
            </a:r>
            <a:r>
              <a:rPr lang="en-GB" sz="3600" dirty="0">
                <a:latin typeface="Times New Roman" panose="02020603050405020304" pitchFamily="18" charset="0"/>
                <a:cs typeface="Times New Roman" panose="02020603050405020304" pitchFamily="18" charset="0"/>
              </a:rPr>
              <a:t>Results: </a:t>
            </a:r>
            <a:r>
              <a:rPr lang="en-IN" sz="3600" dirty="0">
                <a:latin typeface="Times New Roman" panose="02020603050405020304" pitchFamily="18" charset="0"/>
                <a:cs typeface="Times New Roman" panose="02020603050405020304" pitchFamily="18" charset="0"/>
              </a:rPr>
              <a:t>Crop Performance</a:t>
            </a:r>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DF614D2C-EC76-8FC3-FB69-532A36E217ED}"/>
              </a:ext>
            </a:extLst>
          </p:cNvPr>
          <p:cNvPicPr>
            <a:picLocks noChangeAspect="1"/>
          </p:cNvPicPr>
          <p:nvPr/>
        </p:nvPicPr>
        <p:blipFill>
          <a:blip r:embed="rId3"/>
          <a:stretch>
            <a:fillRect/>
          </a:stretch>
        </p:blipFill>
        <p:spPr>
          <a:xfrm>
            <a:off x="807164" y="975360"/>
            <a:ext cx="9872297" cy="568960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1328260" y="392748"/>
            <a:ext cx="7033420" cy="830997"/>
          </a:xfrm>
        </p:spPr>
        <p:txBody>
          <a:bodyPr>
            <a:normAutofit fontScale="90000"/>
          </a:bodyPr>
          <a:lstStyle/>
          <a:p>
            <a:pPr algn="ctr"/>
            <a:r>
              <a:rPr lang="en-GB" sz="4000" dirty="0">
                <a:latin typeface="Times New Roman" panose="02020603050405020304" pitchFamily="18" charset="0"/>
                <a:cs typeface="Times New Roman" panose="02020603050405020304" pitchFamily="18" charset="0"/>
              </a:rPr>
              <a:t>Results :</a:t>
            </a:r>
            <a:r>
              <a:rPr lang="en-IN" sz="4000" dirty="0">
                <a:latin typeface="Times New Roman" panose="02020603050405020304" pitchFamily="18" charset="0"/>
                <a:cs typeface="Times New Roman" panose="02020603050405020304" pitchFamily="18" charset="0"/>
              </a:rPr>
              <a:t>Rainfall by Season</a:t>
            </a:r>
            <a:br>
              <a:rPr lang="en-IN" b="0" dirty="0"/>
            </a:b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8E18601E-9205-EFBF-4BAC-7C4A5D6F5B28}"/>
              </a:ext>
            </a:extLst>
          </p:cNvPr>
          <p:cNvSpPr>
            <a:spLocks noGrp="1"/>
          </p:cNvSpPr>
          <p:nvPr>
            <p:ph type="body" sz="quarter" idx="12"/>
          </p:nvPr>
        </p:nvSpPr>
        <p:spPr/>
        <p:txBody>
          <a:bodyPr/>
          <a:lstStyle/>
          <a:p>
            <a:pPr marL="0" indent="0">
              <a:buNone/>
            </a:pPr>
            <a:endParaRPr lang="en-IN" dirty="0"/>
          </a:p>
        </p:txBody>
      </p:sp>
      <p:pic>
        <p:nvPicPr>
          <p:cNvPr id="9" name="Picture 8">
            <a:extLst>
              <a:ext uri="{FF2B5EF4-FFF2-40B4-BE49-F238E27FC236}">
                <a16:creationId xmlns:a16="http://schemas.microsoft.com/office/drawing/2014/main" id="{FE3C6C7D-512F-4522-A607-09E61255823D}"/>
              </a:ext>
            </a:extLst>
          </p:cNvPr>
          <p:cNvPicPr>
            <a:picLocks noChangeAspect="1"/>
          </p:cNvPicPr>
          <p:nvPr/>
        </p:nvPicPr>
        <p:blipFill>
          <a:blip r:embed="rId3"/>
          <a:stretch>
            <a:fillRect/>
          </a:stretch>
        </p:blipFill>
        <p:spPr>
          <a:xfrm>
            <a:off x="320982" y="1117600"/>
            <a:ext cx="10621338" cy="547624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8742363" cy="1265171"/>
          </a:xfrm>
        </p:spPr>
        <p:txBody>
          <a:bodyPr>
            <a:normAutofit/>
          </a:bodyPr>
          <a:lstStyle/>
          <a:p>
            <a:pPr algn="ctr"/>
            <a:r>
              <a:rPr lang="en-GB" sz="3600" dirty="0">
                <a:latin typeface="Times New Roman" panose="02020603050405020304" pitchFamily="18" charset="0"/>
                <a:cs typeface="Times New Roman" panose="02020603050405020304" pitchFamily="18" charset="0"/>
              </a:rPr>
              <a:t>Results : State-Wise Profitability Chart  </a:t>
            </a:r>
            <a:endParaRPr lang="en-IN" sz="36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FCF54876-9F01-6902-A2DA-DECC397EBAD6}"/>
              </a:ext>
            </a:extLst>
          </p:cNvPr>
          <p:cNvSpPr>
            <a:spLocks noGrp="1"/>
          </p:cNvSpPr>
          <p:nvPr>
            <p:ph type="body" sz="quarter" idx="12"/>
          </p:nvPr>
        </p:nvSpPr>
        <p:spPr/>
        <p:txBody>
          <a:bodyPr/>
          <a:lstStyle/>
          <a:p>
            <a:endParaRPr lang="en-IN" dirty="0"/>
          </a:p>
        </p:txBody>
      </p:sp>
      <p:pic>
        <p:nvPicPr>
          <p:cNvPr id="9" name="Picture 8">
            <a:extLst>
              <a:ext uri="{FF2B5EF4-FFF2-40B4-BE49-F238E27FC236}">
                <a16:creationId xmlns:a16="http://schemas.microsoft.com/office/drawing/2014/main" id="{B6BA259F-045D-815A-5D9A-B027E1FCF9A6}"/>
              </a:ext>
            </a:extLst>
          </p:cNvPr>
          <p:cNvPicPr>
            <a:picLocks noChangeAspect="1"/>
          </p:cNvPicPr>
          <p:nvPr/>
        </p:nvPicPr>
        <p:blipFill>
          <a:blip r:embed="rId3"/>
          <a:stretch>
            <a:fillRect/>
          </a:stretch>
        </p:blipFill>
        <p:spPr>
          <a:xfrm>
            <a:off x="436880" y="1098794"/>
            <a:ext cx="10409861" cy="5469646"/>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2D39C-B1F1-A335-AECF-4F3F2EB6A27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A584D8-156D-EA19-B18A-B3FAD41F7AE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35AEA86-79E4-2541-7D94-F1CD12D83B28}"/>
              </a:ext>
            </a:extLst>
          </p:cNvPr>
          <p:cNvSpPr>
            <a:spLocks noGrp="1"/>
          </p:cNvSpPr>
          <p:nvPr>
            <p:ph type="title"/>
          </p:nvPr>
        </p:nvSpPr>
        <p:spPr>
          <a:xfrm>
            <a:off x="675957" y="370589"/>
            <a:ext cx="7655243" cy="830997"/>
          </a:xfrm>
        </p:spPr>
        <p:txBody>
          <a:bodyPr>
            <a:noAutofit/>
          </a:bodyPr>
          <a:lstStyle/>
          <a:p>
            <a:pPr algn="ctr"/>
            <a:r>
              <a:rPr lang="en-GB" sz="3600" dirty="0">
                <a:latin typeface="Times New Roman" panose="02020603050405020304" pitchFamily="18" charset="0"/>
                <a:cs typeface="Times New Roman" panose="02020603050405020304" pitchFamily="18" charset="0"/>
              </a:rPr>
              <a:t>Results : Correlation Analysis</a:t>
            </a:r>
            <a:endParaRPr lang="en-IN" sz="36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DE257A8C-21CB-0EF7-7A41-01D39E7C4C1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5F23038-D4F0-0645-F590-F8ED4912193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0117A3D1-BD5C-22E2-93EF-194E357E0D0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450F3606-B672-8495-5AEE-B7D3DD964034}"/>
              </a:ext>
            </a:extLst>
          </p:cNvPr>
          <p:cNvPicPr>
            <a:picLocks noChangeAspect="1"/>
          </p:cNvPicPr>
          <p:nvPr/>
        </p:nvPicPr>
        <p:blipFill>
          <a:blip r:embed="rId3"/>
          <a:stretch>
            <a:fillRect/>
          </a:stretch>
        </p:blipFill>
        <p:spPr>
          <a:xfrm>
            <a:off x="457200" y="1082330"/>
            <a:ext cx="10332720" cy="5389590"/>
          </a:xfrm>
          <a:prstGeom prst="rect">
            <a:avLst/>
          </a:prstGeom>
        </p:spPr>
      </p:pic>
    </p:spTree>
    <p:extLst>
      <p:ext uri="{BB962C8B-B14F-4D97-AF65-F5344CB8AC3E}">
        <p14:creationId xmlns:p14="http://schemas.microsoft.com/office/powerpoint/2010/main" val="2175968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E5016-9411-6748-1E8D-C7E64C0D93A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4F147C2-8D4B-4203-3402-4E61D2799FD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43B04D6-BE49-5D4D-9887-BE4F6CFCD6A9}"/>
              </a:ext>
            </a:extLst>
          </p:cNvPr>
          <p:cNvSpPr>
            <a:spLocks noGrp="1"/>
          </p:cNvSpPr>
          <p:nvPr>
            <p:ph type="title"/>
          </p:nvPr>
        </p:nvSpPr>
        <p:spPr>
          <a:xfrm>
            <a:off x="675957" y="370589"/>
            <a:ext cx="8468043" cy="830997"/>
          </a:xfrm>
        </p:spPr>
        <p:txBody>
          <a:bodyPr>
            <a:noAutofit/>
          </a:bodyPr>
          <a:lstStyle/>
          <a:p>
            <a:pPr algn="ctr"/>
            <a:r>
              <a:rPr lang="en-GB" sz="3600" dirty="0">
                <a:latin typeface="Times New Roman" panose="02020603050405020304" pitchFamily="18" charset="0"/>
                <a:cs typeface="Times New Roman" panose="02020603050405020304" pitchFamily="18" charset="0"/>
              </a:rPr>
              <a:t>Results : Rainfall Vs Yield </a:t>
            </a:r>
            <a:endParaRPr lang="en-IN" sz="36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C1840CA4-9AE8-B326-2DC1-9F78A3C3788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AD0652A-33A9-2A4E-1D20-B530E7F5DB2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68F6BA53-E10B-DA69-4C2D-8273A50D0FA8}"/>
              </a:ext>
            </a:extLst>
          </p:cNvPr>
          <p:cNvPicPr>
            <a:picLocks noChangeAspect="1"/>
          </p:cNvPicPr>
          <p:nvPr/>
        </p:nvPicPr>
        <p:blipFill>
          <a:blip r:embed="rId3"/>
          <a:stretch>
            <a:fillRect/>
          </a:stretch>
        </p:blipFill>
        <p:spPr>
          <a:xfrm>
            <a:off x="320982" y="1275372"/>
            <a:ext cx="10804652" cy="5389588"/>
          </a:xfrm>
          <a:prstGeom prst="rect">
            <a:avLst/>
          </a:prstGeom>
        </p:spPr>
      </p:pic>
    </p:spTree>
    <p:extLst>
      <p:ext uri="{BB962C8B-B14F-4D97-AF65-F5344CB8AC3E}">
        <p14:creationId xmlns:p14="http://schemas.microsoft.com/office/powerpoint/2010/main" val="3168323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376F8-E21A-CC16-4BF3-4E3DAAC34F1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1987A16-70F8-82CE-0950-6674D5D5935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99C63EC-6A42-C7E9-2ACA-29CD2C59C1E8}"/>
              </a:ext>
            </a:extLst>
          </p:cNvPr>
          <p:cNvSpPr>
            <a:spLocks noGrp="1"/>
          </p:cNvSpPr>
          <p:nvPr>
            <p:ph type="title"/>
          </p:nvPr>
        </p:nvSpPr>
        <p:spPr>
          <a:xfrm>
            <a:off x="675957" y="370589"/>
            <a:ext cx="8630603" cy="830997"/>
          </a:xfrm>
        </p:spPr>
        <p:txBody>
          <a:bodyPr>
            <a:noAutofit/>
          </a:bodyPr>
          <a:lstStyle/>
          <a:p>
            <a:pPr algn="ctr"/>
            <a:r>
              <a:rPr lang="en-US" sz="3600" dirty="0">
                <a:latin typeface="Times New Roman" panose="02020603050405020304" pitchFamily="18" charset="0"/>
                <a:cs typeface="Times New Roman" panose="02020603050405020304" pitchFamily="18" charset="0"/>
              </a:rPr>
              <a:t>     Results : Water Efficiency Vs Yield</a:t>
            </a:r>
            <a:endParaRPr lang="en-IN" sz="36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3B224820-A6E4-C722-D9CA-D33CB73B4F6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3EE3B4-E961-30AA-C2C4-BF6E78A6A5CC}"/>
              </a:ext>
            </a:extLst>
          </p:cNvPr>
          <p:cNvSpPr txBox="1">
            <a:spLocks/>
          </p:cNvSpPr>
          <p:nvPr/>
        </p:nvSpPr>
        <p:spPr>
          <a:xfrm>
            <a:off x="3664543" y="2179918"/>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56EDDC77-F718-9DC8-261C-E00DD8C86312}"/>
              </a:ext>
            </a:extLst>
          </p:cNvPr>
          <p:cNvPicPr>
            <a:picLocks noChangeAspect="1"/>
          </p:cNvPicPr>
          <p:nvPr/>
        </p:nvPicPr>
        <p:blipFill>
          <a:blip r:embed="rId3"/>
          <a:stretch>
            <a:fillRect/>
          </a:stretch>
        </p:blipFill>
        <p:spPr>
          <a:xfrm>
            <a:off x="426721" y="1320800"/>
            <a:ext cx="10576560" cy="5151120"/>
          </a:xfrm>
          <a:prstGeom prst="rect">
            <a:avLst/>
          </a:prstGeom>
        </p:spPr>
      </p:pic>
    </p:spTree>
    <p:extLst>
      <p:ext uri="{BB962C8B-B14F-4D97-AF65-F5344CB8AC3E}">
        <p14:creationId xmlns:p14="http://schemas.microsoft.com/office/powerpoint/2010/main" val="42656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2819081" y="629920"/>
            <a:ext cx="4953319" cy="571667"/>
          </a:xfrm>
        </p:spPr>
        <p:txBody>
          <a:bodyPr>
            <a:noAutofit/>
          </a:bodyPr>
          <a:lstStyle/>
          <a:p>
            <a:pPr algn="ctr"/>
            <a:r>
              <a:rPr lang="en-IN" sz="4000" dirty="0">
                <a:latin typeface="Times New Roman" panose="02020603050405020304" pitchFamily="18" charset="0"/>
                <a:cs typeface="Times New Roman" panose="02020603050405020304" pitchFamily="18" charset="0"/>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403654" y="1275370"/>
            <a:ext cx="10142426" cy="481046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Box 9">
            <a:extLst>
              <a:ext uri="{FF2B5EF4-FFF2-40B4-BE49-F238E27FC236}">
                <a16:creationId xmlns:a16="http://schemas.microsoft.com/office/drawing/2014/main" id="{FC47B9B1-EE25-C167-32F1-91D416E97443}"/>
              </a:ext>
            </a:extLst>
          </p:cNvPr>
          <p:cNvSpPr txBox="1"/>
          <p:nvPr/>
        </p:nvSpPr>
        <p:spPr>
          <a:xfrm>
            <a:off x="363120" y="1608410"/>
            <a:ext cx="11828879" cy="4247317"/>
          </a:xfrm>
          <a:prstGeom prst="rect">
            <a:avLst/>
          </a:prstGeom>
          <a:noFill/>
        </p:spPr>
        <p:txBody>
          <a:bodyPr wrap="none" rtlCol="0">
            <a:spAutoFit/>
          </a:bodyPr>
          <a:lstStyle/>
          <a:p>
            <a:pPr marL="285750" lvl="0" indent="-285750" algn="just">
              <a:buFont typeface="Arial" panose="020B0604020202020204" pitchFamily="34" charset="0"/>
              <a:buChar char="•"/>
            </a:pPr>
            <a:endParaRPr lang="en-IN" b="1" dirty="0"/>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Machine learning models can be added to predict crop yield and profitability for future seasons. </a:t>
            </a:r>
          </a:p>
          <a:p>
            <a:pPr lvl="0" algn="just"/>
            <a:endParaRPr lang="en-IN" dirty="0"/>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Real-time weather and rainfall data can be integrated for better forecasting and decision-making.</a:t>
            </a:r>
          </a:p>
          <a:p>
            <a:pPr lvl="0" algn="just"/>
            <a:endParaRPr lang="en-IN"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project can be extended by </a:t>
            </a:r>
            <a:r>
              <a:rPr lang="en-IN" dirty="0" err="1">
                <a:latin typeface="Times New Roman" panose="02020603050405020304" pitchFamily="18" charset="0"/>
                <a:cs typeface="Times New Roman" panose="02020603050405020304" pitchFamily="18" charset="0"/>
              </a:rPr>
              <a:t>analyzing</a:t>
            </a:r>
            <a:r>
              <a:rPr lang="en-IN" dirty="0">
                <a:latin typeface="Times New Roman" panose="02020603050405020304" pitchFamily="18" charset="0"/>
                <a:cs typeface="Times New Roman" panose="02020603050405020304" pitchFamily="18" charset="0"/>
              </a:rPr>
              <a:t> multi-year agricultural data to identify long-term seasonal trends.</a:t>
            </a:r>
          </a:p>
          <a:p>
            <a:pPr marL="285750" lvl="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analysis can be expanded to provide crop and irrigation recommendations based on soil and environmental conditions.</a:t>
            </a:r>
          </a:p>
          <a:p>
            <a:pPr marL="285750" lvl="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system can also estimate water and fertilizer requirements to improve resource efficiency.</a:t>
            </a:r>
          </a:p>
          <a:p>
            <a:pPr marL="285750" lvl="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 Power BI or interactive dashboard can be developed for easier monitoring by farmers and decision-makers.</a:t>
            </a:r>
          </a:p>
          <a:p>
            <a:pPr marL="285750" lvl="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Future versions can support real-time alerts for unusual weather, pest risks, or expected yield changes.</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2941033" y="406401"/>
            <a:ext cx="4735798" cy="711491"/>
          </a:xfrm>
        </p:spPr>
        <p:txBody>
          <a:bodyPr>
            <a:normAutofit/>
          </a:bodyPr>
          <a:lstStyle/>
          <a:p>
            <a:pPr algn="ctr"/>
            <a:r>
              <a:rPr lang="en-IN" sz="4000" dirty="0">
                <a:latin typeface="Times New Roman" panose="02020603050405020304" pitchFamily="18" charset="0"/>
                <a:cs typeface="Times New Roman" panose="02020603050405020304" pitchFamily="18" charset="0"/>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33270" y="1249689"/>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449544" cy="646331"/>
          </a:xfrm>
          <a:prstGeom prst="rect">
            <a:avLst/>
          </a:prstGeom>
          <a:noFill/>
        </p:spPr>
        <p:txBody>
          <a:bodyPr wrap="square">
            <a:spAutoFit/>
          </a:bodyPr>
          <a:lstStyle/>
          <a:p>
            <a:r>
              <a:rPr lang="en-US" dirty="0"/>
              <a:t>https://github.com/RajeshDabetta/Seasonal-Agriculture-Performance-Analysis.git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pPr algn="ctr"/>
            <a:r>
              <a:rPr lang="en-IN" sz="3200" dirty="0">
                <a:latin typeface="Times New Roman" panose="02020603050405020304" pitchFamily="18" charset="0"/>
                <a:ea typeface="Tahoma" panose="020B0604030504040204" pitchFamily="34" charset="0"/>
                <a:cs typeface="Times New Roman" panose="02020603050405020304" pitchFamily="18" charset="0"/>
              </a:rPr>
              <a:t>VOIS Course Completion Certificate - </a:t>
            </a:r>
            <a:br>
              <a:rPr lang="en-IN" sz="3200" dirty="0">
                <a:latin typeface="Times New Roman" panose="02020603050405020304" pitchFamily="18" charset="0"/>
                <a:ea typeface="Tahoma" panose="020B0604030504040204" pitchFamily="34" charset="0"/>
                <a:cs typeface="Times New Roman" panose="02020603050405020304" pitchFamily="18" charset="0"/>
              </a:rPr>
            </a:br>
            <a:r>
              <a:rPr lang="en-IN" sz="3200" dirty="0">
                <a:latin typeface="Times New Roman" panose="02020603050405020304" pitchFamily="18" charset="0"/>
                <a:ea typeface="Tahoma" panose="020B0604030504040204" pitchFamily="34" charset="0"/>
                <a:cs typeface="Times New Roman" panose="02020603050405020304" pitchFamily="18" charset="0"/>
              </a:rPr>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E356F8AD-0ED8-B57E-075E-3CB1379F60E4}"/>
              </a:ext>
            </a:extLst>
          </p:cNvPr>
          <p:cNvPicPr>
            <a:picLocks noChangeAspect="1"/>
          </p:cNvPicPr>
          <p:nvPr/>
        </p:nvPicPr>
        <p:blipFill>
          <a:blip r:embed="rId3"/>
          <a:stretch>
            <a:fillRect/>
          </a:stretch>
        </p:blipFill>
        <p:spPr>
          <a:xfrm>
            <a:off x="929957" y="1506810"/>
            <a:ext cx="8701724" cy="477520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1579</TotalTime>
  <Words>594</Words>
  <Application>Microsoft Office PowerPoint</Application>
  <PresentationFormat>Widescreen</PresentationFormat>
  <Paragraphs>55</Paragraphs>
  <Slides>17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Times New Roman</vt:lpstr>
      <vt:lpstr>Trebuchet MS</vt:lpstr>
      <vt:lpstr>Wingdings</vt:lpstr>
      <vt:lpstr>Wingdings 3</vt:lpstr>
      <vt:lpstr>Facet</vt:lpstr>
      <vt:lpstr>Project Title – Seasonal Agriculture Performance Analysis</vt:lpstr>
      <vt:lpstr>Problem Statement</vt:lpstr>
      <vt:lpstr>Seasonal Agriculture Performance Analysis is a Data Analytics project focused on understanding how agricultural performance changes across different farming seasons. The project uses a dataset containing information about crops, geographical locations, environmental conditions, farming resources, production, market prices, costs, revenue, and profit.  The main purpose of the project is to analyze agricultural data and identify meaningful seasonal patterns, differences, relationships, and performance variations. The analysis helps understand which seasons provide better crop yields and profitability and how environmental conditions and resource utilization are associated with agricultural outcomes. </vt:lpstr>
      <vt:lpstr>Who are the End Users?</vt:lpstr>
      <vt:lpstr>Technologies &amp; Libraries Used</vt:lpstr>
      <vt:lpstr> Results: Number of Farms by Seasons</vt:lpstr>
      <vt:lpstr>            Results :Average Yield by Season </vt:lpstr>
      <vt:lpstr>                    Results: Crop Performance</vt:lpstr>
      <vt:lpstr>Results :Rainfall by Season </vt:lpstr>
      <vt:lpstr>Results : State-Wise Profitability Chart  </vt:lpstr>
      <vt:lpstr>Results : Correlation Analysis</vt:lpstr>
      <vt:lpstr>Results : Rainfall Vs Yield </vt:lpstr>
      <vt:lpstr>     Results : Water Efficiency Vs Yield</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rajesh dabetta</cp:lastModifiedBy>
  <cp:revision>100</cp:revision>
  <dcterms:created xsi:type="dcterms:W3CDTF">2021-07-11T13:13:15Z</dcterms:created>
  <dcterms:modified xsi:type="dcterms:W3CDTF">2026-09-13T09:57:47Z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